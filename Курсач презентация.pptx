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01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2"/>
    </p:embeddedFont>
    <p:embeddedFont>
      <p:font typeface="Instrument Sans SemiBold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9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23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FB2E4-0335-E832-2DFC-A0C88892F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2A687F-C010-FB51-B490-6C16DC6B6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C51C4-E568-5AC2-41A2-A0C4CC77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98214-B120-4099-649D-EFC2CD70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8FDC1-4504-34C1-5DBE-BC52E0BA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79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8933B-5641-1FA4-81B0-395DFD75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3CCB7-A2CC-D8C9-A8D4-4B28AC0BF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C6D58F-51C7-429D-53FD-9F24D058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506D1A-7A22-C1D1-B85C-20C41A2E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4AFFCE-A7F0-5CE7-A2BD-22509BAA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3908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7B626-9CB8-817D-8679-8E362033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5E37D0-12B7-F5E3-418B-D42E32265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06E35D-CAB8-7AAB-350B-E2DC9EDA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5C5F88-0289-B195-BF19-F9C19464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E87B60-20F4-142B-6042-5E8A0097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3283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6BD2B-1B12-952C-78EF-D793B013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DD80E-A5BA-4B1C-B6FE-A8FD0DC6C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B2B2C6-3EE6-A2C2-1DEF-80357C4A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3B0AE2-8974-6D8B-D01D-0FBCE5D4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8158D8-0219-A4C6-8B2E-C93F4DA7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8A27F7-8C03-2F5D-4C85-55290083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1330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6FBD4-3137-BE0D-0187-C62C8546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23F08D-443F-7B68-AB43-3FB80F9D5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98580F-7F9D-B8F6-1AE1-B557AE636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04F11D-B139-C5FC-A4A9-927100145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73B4F-AE0E-35C0-C343-0FF425E5C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22629B-A59D-D50E-5E09-7E1E453B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450D5E-99D0-7743-634B-D8C94C91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52F153-94B7-3B1A-9850-F89DB775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4794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1E061-3A12-2239-653B-939759FE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1A6DC6-49C4-05AD-0E39-AD96BF3B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4777DB-0A29-63E1-0019-D940C5A3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7A8EA3-BCD1-8B57-5D81-C73CE649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0330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36BCAF-F3B9-D8D2-ECB9-9F974FD2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F76837-7FFA-85F1-1409-ABFC1BBB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7472ED-444F-BB23-4363-902D70D5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1685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61F38-92A3-3714-3209-ABFBB2F5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7C847C-0D8D-ED9C-5166-DA5F7F38F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E85039-E75D-34AB-625C-263575C20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74A18C-3F90-367C-F9DD-85AF2D61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B1AFDA-46B3-532A-699E-3B352FE7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F0D1AF-B22B-576B-132E-9ACDC64B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6747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2AB4B-8C92-DBBD-AC2C-50D9EB22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DB104E-3397-DD17-B852-AE5414D7C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ECADBF-C8B5-10E5-DA40-73D411879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8F2B13-ADD7-8707-D3F6-B9AA1336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B3941D-52EA-3A79-FC06-025991EDC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420E3A-5D02-1129-D96D-FDF0F38E3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0290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84BC0-2837-C3A1-8C37-AE830ED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C3FF33-298C-22C9-4FA3-B0B36BCE4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15588-491B-D014-5149-1E6F23A4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4D474-AB74-1D38-0D75-7F9D94A3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648DFE-833D-EE45-7025-C00153A0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3846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DA8FFC-9716-7BC7-1A83-F96785556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D82111-1373-7673-7BEB-C6977A30B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B78D88-ECC5-C169-538C-6B5C34B7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C42B4-ED80-320A-5F35-28668C39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CEA1A-68CF-2E45-FB44-66CD0427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8299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73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886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285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371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708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712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32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69FA8-84AB-F3DC-770F-697AE82F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0625CA-7CCA-8A11-5DA3-AAC71A2D2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E4AEF6-5426-A097-4EEB-5E3EF6EE5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2BA1B-1CA2-421D-801A-3B3BAF732C5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A4BE7-E2A3-6058-26DD-EE1D2624A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E2B1A-AA5D-D19F-FA3C-5B676E6D3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131C1-1610-4523-BB3C-CDB6276AE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06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12876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 err="1">
                <a:solidFill>
                  <a:srgbClr val="091C53"/>
                </a:solidFill>
                <a:latin typeface="Instrument Sans SemiBold" pitchFamily="34" charset="0"/>
              </a:rPr>
              <a:t>На</a:t>
            </a: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2750" dirty="0" err="1">
                <a:solidFill>
                  <a:srgbClr val="091C53"/>
                </a:solidFill>
                <a:latin typeface="Instrument Sans SemiBold" pitchFamily="34" charset="0"/>
              </a:rPr>
              <a:t>тему</a:t>
            </a:r>
            <a:r>
              <a:rPr lang="ru-RU" sz="2750" dirty="0">
                <a:solidFill>
                  <a:srgbClr val="091C53"/>
                </a:solidFill>
                <a:latin typeface="Instrument Sans SemiBold" pitchFamily="34" charset="0"/>
              </a:rPr>
              <a:t>:</a:t>
            </a:r>
            <a:r>
              <a:rPr lang="ru-RU" sz="2750" dirty="0">
                <a:solidFill>
                  <a:srgbClr val="091C53"/>
                </a:solidFill>
              </a:rPr>
              <a:t> </a:t>
            </a:r>
            <a:r>
              <a:rPr lang="en-US" sz="2750" dirty="0" err="1">
                <a:solidFill>
                  <a:srgbClr val="091C53"/>
                </a:solidFill>
                <a:latin typeface="Instrument Sans SemiBold" pitchFamily="34" charset="0"/>
              </a:rPr>
              <a:t>разработка</a:t>
            </a: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GUI приложения на C++ для детекции временных email-адресов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48450" y="4109542"/>
            <a:ext cx="2317750" cy="9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Автор: Лакин Т.А.  </a:t>
            </a:r>
            <a:endParaRPr lang="ru-RU" sz="11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r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Руководитель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Колпаков А.А. </a:t>
            </a:r>
            <a:endParaRPr lang="ru-RU" sz="11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МИ ВлГУ (филиал, Муром) • 2026</a:t>
            </a:r>
            <a:endParaRPr lang="en-US" sz="11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275FAD3-C2B8-0E16-5F01-EB5B4717C2FB}"/>
              </a:ext>
            </a:extLst>
          </p:cNvPr>
          <p:cNvSpPr/>
          <p:nvPr/>
        </p:nvSpPr>
        <p:spPr>
          <a:xfrm>
            <a:off x="457560" y="42194"/>
            <a:ext cx="8228880" cy="10754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ct val="104000"/>
              </a:lnSpc>
              <a:tabLst>
                <a:tab pos="0" algn="l"/>
              </a:tabLst>
            </a:pP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Министерство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науки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и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высшего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образования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Российской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Федерации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Муромский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институт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(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филиал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)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федерального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государственного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бюджетного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образовательного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учреждения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высшего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образования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«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Владимирский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государственный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университет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имени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Александра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Григорьевича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и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Николая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Григорьевича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Столетовых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» (МИ </a:t>
            </a:r>
            <a:r>
              <a:rPr lang="en-US" sz="1400" dirty="0" err="1">
                <a:solidFill>
                  <a:srgbClr val="091C53"/>
                </a:solidFill>
                <a:latin typeface="Instrument Sans SemiBold" pitchFamily="34" charset="0"/>
              </a:rPr>
              <a:t>ВлГУ</a:t>
            </a: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</a:rPr>
              <a:t>)</a:t>
            </a:r>
            <a:endParaRPr lang="ru-RU" sz="1400" dirty="0">
              <a:solidFill>
                <a:srgbClr val="091C53"/>
              </a:solidFill>
            </a:endParaRPr>
          </a:p>
          <a:p>
            <a:pPr algn="ctr">
              <a:lnSpc>
                <a:spcPct val="104000"/>
              </a:lnSpc>
              <a:tabLst>
                <a:tab pos="0" algn="l"/>
              </a:tabLst>
            </a:pPr>
            <a:endParaRPr lang="ru-RU" sz="1400" dirty="0">
              <a:solidFill>
                <a:srgbClr val="091C53"/>
              </a:solidFill>
            </a:endParaRPr>
          </a:p>
          <a:p>
            <a:pPr algn="ctr">
              <a:lnSpc>
                <a:spcPct val="104000"/>
              </a:lnSpc>
              <a:tabLst>
                <a:tab pos="0" algn="l"/>
              </a:tabLst>
            </a:pPr>
            <a:endParaRPr lang="ru-RU" sz="1400" dirty="0">
              <a:solidFill>
                <a:srgbClr val="091C53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541C27-FA51-9BCF-474C-7436D343330B}"/>
              </a:ext>
            </a:extLst>
          </p:cNvPr>
          <p:cNvSpPr/>
          <p:nvPr/>
        </p:nvSpPr>
        <p:spPr>
          <a:xfrm>
            <a:off x="2709720" y="1631160"/>
            <a:ext cx="3495600" cy="4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ct val="104000"/>
              </a:lnSpc>
              <a:tabLst>
                <a:tab pos="0" algn="l"/>
              </a:tabLst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</a:rPr>
              <a:t>КУРСОВАЯ РАБОТА</a:t>
            </a:r>
            <a:endParaRPr lang="ru-RU" sz="2750" dirty="0">
              <a:solidFill>
                <a:srgbClr val="091C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CFD873AD-455F-C212-0A91-F945D451844B}"/>
              </a:ext>
            </a:extLst>
          </p:cNvPr>
          <p:cNvSpPr/>
          <p:nvPr/>
        </p:nvSpPr>
        <p:spPr>
          <a:xfrm>
            <a:off x="2607245" y="3006650"/>
            <a:ext cx="3902943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Актуальность и цель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95352" y="776287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5331" y="868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🔴 </a:t>
            </a:r>
            <a:r>
              <a:rPr lang="en-US" sz="1600" b="1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Актуальность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1056160" y="1181719"/>
            <a:ext cx="3038773" cy="114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Временные почты </a:t>
            </a: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используются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</a:t>
            </a: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фейковых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учётных записей, </a:t>
            </a:r>
            <a:endParaRPr lang="ru-RU" sz="14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</a:t>
            </a: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пама</a:t>
            </a: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обхода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ограничений.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96669" y="776287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6647" y="868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🎯 </a:t>
            </a:r>
            <a:r>
              <a:rPr lang="en-US" sz="1600" b="1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Цель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5029119" y="1262915"/>
            <a:ext cx="3087079" cy="1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Создать настольное GUI‑приложение на C++/MFC для автоматической детекции disposable email.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6871" y="3022302"/>
            <a:ext cx="152369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Функционал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2771930" y="3318397"/>
            <a:ext cx="3600140" cy="1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</a:rPr>
              <a:t> Загрузка базы temp_domains.txt</a:t>
            </a: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</a:rPr>
              <a:t> Валидация </a:t>
            </a:r>
            <a:r>
              <a:rPr lang="en-US" sz="1400" dirty="0" err="1">
                <a:solidFill>
                  <a:srgbClr val="1E3063"/>
                </a:solidFill>
                <a:latin typeface="Instrument Sans Medium" pitchFamily="34" charset="0"/>
              </a:rPr>
              <a:t>формата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</a:rPr>
              <a:t> email</a:t>
            </a: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</a:rPr>
              <a:t> Одиночная проверка и пакетная обработка (.txt, .csv)</a:t>
            </a: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</a:rPr>
              <a:t> Экспорт отчёта в UTF‑8 с 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34839" y="653515"/>
            <a:ext cx="7324948" cy="41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методы: LoadDomainDatabase(), IsValidEmail(), IsDisposable(), SaveReport()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2758" y="918721"/>
            <a:ext cx="243632" cy="24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1281" y="119588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C++</a:t>
            </a: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38736" y="1373330"/>
            <a:ext cx="1563396" cy="66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ru-RU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Производительность, </a:t>
            </a:r>
          </a:p>
          <a:p>
            <a:pPr marL="0" indent="0" algn="ctr">
              <a:lnSpc>
                <a:spcPct val="113000"/>
              </a:lnSpc>
              <a:buNone/>
            </a:pPr>
            <a:r>
              <a:rPr lang="ru-RU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статическая линковка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2312" y="918721"/>
            <a:ext cx="243632" cy="243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974" y="119588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MFC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368679" y="1370271"/>
            <a:ext cx="2270895" cy="35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Диалоговое приложение, элементы CEdit / CListCtrl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1867" y="918721"/>
            <a:ext cx="243632" cy="243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64529" y="120001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unordered_set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768906" y="1373330"/>
            <a:ext cx="2009552" cy="359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Поиск домена: </a:t>
            </a:r>
            <a:endParaRPr lang="ru-RU" sz="10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ctr">
              <a:lnSpc>
                <a:spcPct val="113000"/>
              </a:lnSpc>
              <a:buNone/>
            </a:pPr>
            <a:r>
              <a:rPr lang="en-US" sz="10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амортизированное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O(1)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209452" y="1839218"/>
            <a:ext cx="245082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Архитектура — схема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7129" y="2170844"/>
            <a:ext cx="6509593" cy="24426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48172" y="4033051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Return Status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110811" y="4033051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Lookup Hash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108776" y="3938483"/>
            <a:ext cx="981819" cy="3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Extract Domain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2878141" y="3938483"/>
            <a:ext cx="981818" cy="37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Validate Format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392006" y="4033051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Input Email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980889" y="4554922"/>
            <a:ext cx="7182222" cy="19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Диалог‑базированное приложение, главный класс CTempMailCheckerDlg (CDialogEx).</a:t>
            </a:r>
            <a:endParaRPr lang="en-US" sz="10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EE0B5CB-0772-FA75-AD9F-6B512870D4E0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Стек технологий и архитектура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DD29ED9-DF81-2056-D26D-BFECE5D413D8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Структура окна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D4ABF1-7968-5295-53DA-4FF2ACBB9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690034"/>
            <a:ext cx="5227637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5E5F2-3D4C-1DA0-5B09-CC354E75669D}"/>
              </a:ext>
            </a:extLst>
          </p:cNvPr>
          <p:cNvSpPr txBox="1"/>
          <p:nvPr/>
        </p:nvSpPr>
        <p:spPr>
          <a:xfrm>
            <a:off x="6010275" y="690034"/>
            <a:ext cx="290195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Поле ввода текста для проверки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Кнопка проверки введённого текста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Кнопка загрузки файла с листом данных для проверки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Окно вывода информации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Кнопка сохранения вывода в виде </a:t>
            </a:r>
            <a:r>
              <a:rPr lang="en-US" sz="1400" dirty="0">
                <a:solidFill>
                  <a:srgbClr val="091C53"/>
                </a:solidFill>
              </a:rPr>
              <a:t>txt </a:t>
            </a:r>
            <a:r>
              <a:rPr lang="ru-RU" sz="1400" dirty="0">
                <a:solidFill>
                  <a:srgbClr val="091C53"/>
                </a:solidFill>
              </a:rPr>
              <a:t>файла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Кнопка очистки в окне вывода</a:t>
            </a:r>
          </a:p>
          <a:p>
            <a:pPr marL="342900" marR="107950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91C53"/>
                </a:solidFill>
              </a:rPr>
              <a:t>Окно статуса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15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B2A0094-F6E3-2B85-3882-DFB2AF636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550" y="0"/>
            <a:ext cx="3191750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56543" y="923292"/>
            <a:ext cx="117351" cy="704404"/>
          </a:xfrm>
          <a:prstGeom prst="roundRect">
            <a:avLst>
              <a:gd name="adj" fmla="val 90039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571079" y="1040643"/>
            <a:ext cx="1225972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dirty="0"/>
              <a:t>⌨️ </a:t>
            </a:r>
            <a:r>
              <a:rPr lang="en-US" sz="140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Ввод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079" y="1282340"/>
            <a:ext cx="2311822" cy="289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Ручной или загрузка файла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543" y="1698575"/>
            <a:ext cx="117351" cy="704404"/>
          </a:xfrm>
          <a:prstGeom prst="roundRect">
            <a:avLst>
              <a:gd name="adj" fmla="val 90039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571079" y="181592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dirty="0"/>
              <a:t>✅ </a:t>
            </a:r>
            <a:r>
              <a:rPr lang="en-US" sz="140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Валидация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080" y="2057623"/>
            <a:ext cx="45106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 наличия @, длины, допустимых символов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543" y="2476252"/>
            <a:ext cx="117351" cy="704404"/>
          </a:xfrm>
          <a:prstGeom prst="roundRect">
            <a:avLst>
              <a:gd name="adj" fmla="val 90039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571079" y="259360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dirty="0"/>
              <a:t>✂️ </a:t>
            </a:r>
            <a:r>
              <a:rPr lang="en-US" sz="140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Выделение</a:t>
            </a: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домена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080" y="2835300"/>
            <a:ext cx="390907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Приведение к lowercase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543" y="3250332"/>
            <a:ext cx="117351" cy="704404"/>
          </a:xfrm>
          <a:prstGeom prst="roundRect">
            <a:avLst>
              <a:gd name="adj" fmla="val 90039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571079" y="336768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dirty="0"/>
              <a:t>🔎 </a:t>
            </a:r>
            <a:r>
              <a:rPr lang="en-US" sz="140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079" y="3621138"/>
            <a:ext cx="373300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unordered_set → O(1)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543" y="4024412"/>
            <a:ext cx="117351" cy="704404"/>
          </a:xfrm>
          <a:prstGeom prst="roundRect">
            <a:avLst>
              <a:gd name="adj" fmla="val 90039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571079" y="414176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dirty="0"/>
              <a:t>📊 </a:t>
            </a:r>
            <a:r>
              <a:rPr lang="en-US" sz="140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080" y="4383460"/>
            <a:ext cx="337567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Таблица + лог + экспорт отчёта</a:t>
            </a:r>
            <a:endParaRPr lang="en-US" sz="1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3949650-C42C-631F-39CB-17C58F969A06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Алгоритм работы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2728"/>
            <a:ext cx="8151763" cy="1056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8" name="Text 2"/>
          <p:cNvSpPr/>
          <p:nvPr/>
        </p:nvSpPr>
        <p:spPr>
          <a:xfrm>
            <a:off x="267519" y="4777879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Скриншоты: одиночная проверка,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обнаружение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disposable</a:t>
            </a:r>
            <a:endParaRPr lang="en-US" sz="11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EEB2B8-DFFB-3B0C-3951-B2F41501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19" y="1289695"/>
            <a:ext cx="3986981" cy="28052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8884866-DB4E-809E-4B0D-F59DFE476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2" y="1289695"/>
            <a:ext cx="4046453" cy="280524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61CD0FB-2D4B-2360-D542-3AB237321890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Демонстрация приложения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2728"/>
            <a:ext cx="8151763" cy="1056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8" name="Text 2"/>
          <p:cNvSpPr/>
          <p:nvPr/>
        </p:nvSpPr>
        <p:spPr>
          <a:xfrm>
            <a:off x="267519" y="4777879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Скриншоты: </a:t>
            </a:r>
            <a:r>
              <a:rPr lang="en-US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пакетная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обработка, экспорт отчёта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61CD0FB-2D4B-2360-D542-3AB237321890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Демонстрация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AD93F1-E7FF-75C9-65A3-E59639AF5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19" y="1289695"/>
            <a:ext cx="3986980" cy="28185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878585-82E8-9158-2B8D-8ACFAE7B5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2" y="1289695"/>
            <a:ext cx="3885382" cy="282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61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471687"/>
            <a:ext cx="4752677" cy="2457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Всего тестовых записей: 175</a:t>
            </a:r>
            <a:endParaRPr lang="en-US" sz="1400" dirty="0"/>
          </a:p>
          <a:p>
            <a:pPr marL="0" indent="0" rtl="1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Временных: 55</a:t>
            </a:r>
            <a:endParaRPr lang="en-US" sz="1400" dirty="0"/>
          </a:p>
          <a:p>
            <a:pPr marL="0" indent="0" rtl="1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Постоянных: 63</a:t>
            </a:r>
            <a:endParaRPr lang="en-US" sz="1400" dirty="0"/>
          </a:p>
          <a:p>
            <a:pPr marL="0" indent="0" rtl="1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Некорректных: 57</a:t>
            </a:r>
            <a:endParaRPr lang="en-US" sz="1400" dirty="0"/>
          </a:p>
          <a:p>
            <a:pPr marL="0" indent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Тесты пройдены: корректная классификация, экспорт в UTF‑8 с BOM.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99435" y="1471687"/>
            <a:ext cx="24888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Визуализация — сводка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1852613"/>
            <a:ext cx="3053135" cy="245700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CA9D2E-DD19-2A14-693B-19BE5A2BB051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Результаты тестирования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179DBEB7-6E73-65A9-ED27-8E9E4E37A788}"/>
              </a:ext>
            </a:extLst>
          </p:cNvPr>
          <p:cNvSpPr/>
          <p:nvPr/>
        </p:nvSpPr>
        <p:spPr>
          <a:xfrm>
            <a:off x="895352" y="776287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D5BCE3DA-298E-3545-6760-EE4647D80310}"/>
              </a:ext>
            </a:extLst>
          </p:cNvPr>
          <p:cNvSpPr/>
          <p:nvPr/>
        </p:nvSpPr>
        <p:spPr>
          <a:xfrm>
            <a:off x="1685331" y="8236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🎯 </a:t>
            </a:r>
            <a:r>
              <a:rPr lang="ru-RU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РАЗРАБОТАНО:</a:t>
            </a:r>
            <a:endParaRPr lang="en-US" sz="1600" b="1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C5F61B5-4153-D06C-DBE9-F588F4FBF0C3}"/>
              </a:ext>
            </a:extLst>
          </p:cNvPr>
          <p:cNvSpPr/>
          <p:nvPr/>
        </p:nvSpPr>
        <p:spPr>
          <a:xfrm>
            <a:off x="1056160" y="1181719"/>
            <a:ext cx="3038773" cy="114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GUI-приложение на C++/MFC для детекции временных </a:t>
            </a:r>
            <a:r>
              <a:rPr lang="ru-RU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</a:t>
            </a:r>
            <a:endParaRPr lang="en-US" sz="14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2819B941-B7BA-1EE8-3535-5DBCF68E79F8}"/>
              </a:ext>
            </a:extLst>
          </p:cNvPr>
          <p:cNvSpPr/>
          <p:nvPr/>
        </p:nvSpPr>
        <p:spPr>
          <a:xfrm>
            <a:off x="4572000" y="776287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F598510-20E9-9E3C-3E74-72F033814F0B}"/>
              </a:ext>
            </a:extLst>
          </p:cNvPr>
          <p:cNvSpPr/>
          <p:nvPr/>
        </p:nvSpPr>
        <p:spPr>
          <a:xfrm>
            <a:off x="5361979" y="8236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✅ </a:t>
            </a:r>
            <a:r>
              <a:rPr lang="ru-RU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КЛЮЧЕВЫЕ ВОЗМОЖНОСТИ: </a:t>
            </a:r>
            <a:endParaRPr lang="en-US" sz="160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AFD94D5D-0FDD-295F-7168-F205F55B1126}"/>
              </a:ext>
            </a:extLst>
          </p:cNvPr>
          <p:cNvSpPr/>
          <p:nvPr/>
        </p:nvSpPr>
        <p:spPr>
          <a:xfrm>
            <a:off x="4685021" y="1121938"/>
            <a:ext cx="3125937" cy="139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Одиночная и пакетная проверка Поиск в базе за O(1)(</a:t>
            </a:r>
            <a:r>
              <a:rPr lang="ru-RU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unordered_set</a:t>
            </a: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Экспорт отчёта в UTF-8 с BOM                          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Поддержка кириллицы</a:t>
            </a:r>
            <a:endParaRPr lang="en-US" sz="14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DBD10A58-BBAE-CC61-A43D-97ABA66B0E78}"/>
              </a:ext>
            </a:extLst>
          </p:cNvPr>
          <p:cNvSpPr/>
          <p:nvPr/>
        </p:nvSpPr>
        <p:spPr>
          <a:xfrm>
            <a:off x="895349" y="2752650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3281273F-09CC-7955-60E9-89579CD435B7}"/>
              </a:ext>
            </a:extLst>
          </p:cNvPr>
          <p:cNvSpPr/>
          <p:nvPr/>
        </p:nvSpPr>
        <p:spPr>
          <a:xfrm>
            <a:off x="1685328" y="28000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📊 </a:t>
            </a:r>
            <a:r>
              <a:rPr lang="ru-RU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ТЕСТИРОВАНИЕ:</a:t>
            </a:r>
            <a:endParaRPr lang="en-US" sz="1600" b="1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4C80F59-6C78-F2F4-1FF3-534054E7318F}"/>
              </a:ext>
            </a:extLst>
          </p:cNvPr>
          <p:cNvSpPr/>
          <p:nvPr/>
        </p:nvSpPr>
        <p:spPr>
          <a:xfrm>
            <a:off x="1056157" y="3158082"/>
            <a:ext cx="3038773" cy="114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175 тестовых записей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55 временных / 63 постоянных / 57 некорректных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 сценарии пройдены успешно</a:t>
            </a:r>
            <a:endParaRPr lang="en-US" sz="14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CCEC316E-C14F-34DF-5141-F16D4F2BDE56}"/>
              </a:ext>
            </a:extLst>
          </p:cNvPr>
          <p:cNvSpPr/>
          <p:nvPr/>
        </p:nvSpPr>
        <p:spPr>
          <a:xfrm>
            <a:off x="4572000" y="2752650"/>
            <a:ext cx="3351981" cy="1795463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7F825AC-F1F7-5375-F4A9-EC9849E14354}"/>
              </a:ext>
            </a:extLst>
          </p:cNvPr>
          <p:cNvSpPr/>
          <p:nvPr/>
        </p:nvSpPr>
        <p:spPr>
          <a:xfrm>
            <a:off x="4804653" y="2793354"/>
            <a:ext cx="28866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🚀 </a:t>
            </a:r>
            <a:r>
              <a:rPr lang="ru-RU" sz="160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НАПРАВЛЕНИЯ РАЗВИТИЯ:</a:t>
            </a:r>
            <a:endParaRPr lang="en-US" sz="1600" b="1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6133AA1-3EEE-6B97-55FD-D0D11AC882D6}"/>
              </a:ext>
            </a:extLst>
          </p:cNvPr>
          <p:cNvSpPr/>
          <p:nvPr/>
        </p:nvSpPr>
        <p:spPr>
          <a:xfrm>
            <a:off x="4652402" y="3055514"/>
            <a:ext cx="3191173" cy="1430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Автообновление</a:t>
            </a: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базы временных доменов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Интеграция в веб-сервисы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SMTP-проверка существования ящика</a:t>
            </a:r>
            <a:endParaRPr lang="en-US" sz="14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2A25CA04-5F88-5FCC-45E4-DBA95CD476D7}"/>
              </a:ext>
            </a:extLst>
          </p:cNvPr>
          <p:cNvSpPr/>
          <p:nvPr/>
        </p:nvSpPr>
        <p:spPr>
          <a:xfrm>
            <a:off x="845314" y="4713323"/>
            <a:ext cx="7453372" cy="40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🔗 ИСХОДНЫЙ КОД: https://github.com/timzvorykin/TempMailChecker</a:t>
            </a:r>
            <a:endParaRPr lang="en-US" sz="16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BCEF3EE-E024-6D9C-C0B4-BC06D6A1CE84}"/>
              </a:ext>
            </a:extLst>
          </p:cNvPr>
          <p:cNvSpPr/>
          <p:nvPr/>
        </p:nvSpPr>
        <p:spPr>
          <a:xfrm>
            <a:off x="0" y="2969"/>
            <a:ext cx="9144000" cy="68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Заключение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</TotalTime>
  <Words>431</Words>
  <Application>Microsoft Office PowerPoint</Application>
  <PresentationFormat>Экран (16:9)</PresentationFormat>
  <Paragraphs>90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Instrument Sans SemiBold</vt:lpstr>
      <vt:lpstr>Instrument Sans Medium</vt:lpstr>
      <vt:lpstr>Calibri Light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Timofey Lakin</cp:lastModifiedBy>
  <cp:revision>61</cp:revision>
  <dcterms:created xsi:type="dcterms:W3CDTF">2026-05-24T10:17:53Z</dcterms:created>
  <dcterms:modified xsi:type="dcterms:W3CDTF">2026-05-25T02:37:03Z</dcterms:modified>
</cp:coreProperties>
</file>